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e6d51a7f24796" /><Relationship Type="http://schemas.openxmlformats.org/officeDocument/2006/relationships/extended-properties" Target="/docProps/app.xml" Id="R12eb372fb97b4a4e" /><Relationship Type="http://schemas.openxmlformats.org/officeDocument/2006/relationships/officeDocument" Target="/ppt/presentation.xml" Id="R9b410f20c47a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5aba94fd44f61"/>
  </p:sldMasterIdLst>
  <p:notesMasterIdLst>
    <p:notesMasterId xmlns:r="http://schemas.openxmlformats.org/officeDocument/2006/relationships" r:id="R319a8f3a010d40f5"/>
  </p:notesMasterIdLst>
  <p:sldIdLst>
    <p:sldId xmlns:r="http://schemas.openxmlformats.org/officeDocument/2006/relationships" id="256" r:id="R4677367746ac4ca9"/>
    <p:sldId xmlns:r="http://schemas.openxmlformats.org/officeDocument/2006/relationships" id="257" r:id="Rbeb12361d1e84655"/>
    <p:sldId xmlns:r="http://schemas.openxmlformats.org/officeDocument/2006/relationships" id="258" r:id="R1f34300276c545a7"/>
    <p:sldId xmlns:r="http://schemas.openxmlformats.org/officeDocument/2006/relationships" id="259" r:id="R22e2b01168484564"/>
    <p:sldId xmlns:r="http://schemas.openxmlformats.org/officeDocument/2006/relationships" id="260" r:id="R6a6973a7c9d54317"/>
    <p:sldId xmlns:r="http://schemas.openxmlformats.org/officeDocument/2006/relationships" id="261" r:id="R775b63172931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3eaa19acb543bc" /><Relationship Type="http://schemas.openxmlformats.org/officeDocument/2006/relationships/slideMaster" Target="/ppt/slideMasters/slideMaster1.xml" Id="Re2c5aba94fd44f61" /><Relationship Type="http://schemas.openxmlformats.org/officeDocument/2006/relationships/notesMaster" Target="/ppt/notesMasters/notesMaster1.xml" Id="R319a8f3a010d40f5" /><Relationship Type="http://schemas.openxmlformats.org/officeDocument/2006/relationships/presProps" Target="/ppt/presProps.xml" Id="R1691336cd20b4fe9" /><Relationship Type="http://schemas.openxmlformats.org/officeDocument/2006/relationships/tableStyles" Target="/ppt/tableStyles.xml" Id="R830e16ebcc6c4499" /><Relationship Type="http://schemas.openxmlformats.org/officeDocument/2006/relationships/slide" Target="/ppt/slides/slide1.xml" Id="R4677367746ac4ca9" /><Relationship Type="http://schemas.openxmlformats.org/officeDocument/2006/relationships/slide" Target="/ppt/slides/slide2.xml" Id="Rbeb12361d1e84655" /><Relationship Type="http://schemas.openxmlformats.org/officeDocument/2006/relationships/slide" Target="/ppt/slides/slide3.xml" Id="R1f34300276c545a7" /><Relationship Type="http://schemas.openxmlformats.org/officeDocument/2006/relationships/slide" Target="/ppt/slides/slide4.xml" Id="R22e2b01168484564" /><Relationship Type="http://schemas.openxmlformats.org/officeDocument/2006/relationships/slide" Target="/ppt/slides/slide5.xml" Id="R6a6973a7c9d54317" /><Relationship Type="http://schemas.openxmlformats.org/officeDocument/2006/relationships/slide" Target="/ppt/slides/slide6.xml" Id="R775b63172931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6475743d5f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33936d09842ae" /><Relationship Type="http://schemas.openxmlformats.org/officeDocument/2006/relationships/notesMaster" Target="/ppt/notesMasters/notesMaster1.xml" Id="R9c081d58bb5845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15294b07064de5" /><Relationship Type="http://schemas.openxmlformats.org/officeDocument/2006/relationships/notesMaster" Target="/ppt/notesMasters/notesMaster1.xml" Id="R267ec490099f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0948b632043a0" /><Relationship Type="http://schemas.openxmlformats.org/officeDocument/2006/relationships/notesMaster" Target="/ppt/notesMasters/notesMaster1.xml" Id="R2359c9e7887c41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981d03a2104ad2" /><Relationship Type="http://schemas.openxmlformats.org/officeDocument/2006/relationships/notesMaster" Target="/ppt/notesMasters/notesMaster1.xml" Id="R418bc987cb34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016b36d50240bd" /><Relationship Type="http://schemas.openxmlformats.org/officeDocument/2006/relationships/notesMaster" Target="/ppt/notesMasters/notesMaster1.xml" Id="R72cf6b27fba247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b9feab71574085" /><Relationship Type="http://schemas.openxmlformats.org/officeDocument/2006/relationships/notesMaster" Target="/ppt/notesMasters/notesMaster1.xml" Id="R7f8f02f29a244a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nhu cầu người học và vấn đề mất thông tin thị giác khi chỉ trích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evidence/mining-results.md</a:t>
            </a:r>
          </a:p>
          <a:p xmlns:a="http://schemas.openxmlformats.org/drawingml/2006/main">
            <a:r>
              <a:t>- eval/golden_set.jsonl</a:t>
            </a:r>
          </a:p>
          <a:p xmlns:a="http://schemas.openxmlformats.org/drawingml/2006/main">
            <a:r>
              <a:t>- evidence/automated-checks.md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số liệu thuộc evidence của repo; không lấy kết quả từ slide HUST.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spec.md §2</a:t>
            </a:r>
          </a:p>
          <a:p xmlns:a="http://schemas.openxmlformats.org/drawingml/2006/main">
            <a:r>
              <a:t>- evidence/mining-results.md</a:t>
            </a:r>
          </a:p>
          <a:p xmlns:a="http://schemas.openxmlformats.org/drawingml/2006/main">
            <a:r>
              <a:t>- evidence/visual-query-quotes.md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hai lượt: câu bình thường có nguồn; câu khó cần hình ảnh hoặc phải dừng.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project/app/services/ocr_service.py</a:t>
            </a:r>
          </a:p>
          <a:p xmlns:a="http://schemas.openxmlformats.org/drawingml/2006/main">
            <a:r>
              <a:t>- project/app/services/indexing_service.py</a:t>
            </a:r>
          </a:p>
          <a:p xmlns:a="http://schemas.openxmlformats.org/drawingml/2006/main">
            <a:r>
              <a:t>- project/app/services/rag_service.py</a:t>
            </a:r>
          </a:p>
          <a:p xmlns:a="http://schemas.openxmlformats.org/drawingml/2006/main">
            <a:r>
              <a:t>- project/app/models/schemas.py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cả bốn case fail; chuẩn phần trăm đạt nhưng zero-tolerance chưa đạt.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eval/golden_set.jsonl</a:t>
            </a:r>
          </a:p>
          <a:p xmlns:a="http://schemas.openxmlformats.org/drawingml/2006/main">
            <a:r>
              <a:t>- eval/results/cp3-openai-first-run.csv</a:t>
            </a:r>
          </a:p>
          <a:p xmlns:a="http://schemas.openxmlformats.org/drawingml/2006/main">
            <a:r>
              <a:t>- eval/results/cp3-openai-first-run-summary.json</a:t>
            </a:r>
          </a:p>
          <a:p xmlns:a="http://schemas.openxmlformats.org/drawingml/2006/main">
            <a:r>
              <a:t>- eval/results/cp3-openai-first-run-review.md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validation do 5 tester báo cáo và được đại diện nhóm xác nhận ngày 2026-07-30.</a:t>
            </a:r>
          </a:p>
          <a:p xmlns:a="http://schemas.openxmlformats.org/drawingml/2006/main">
            <a:r>
              <a:t>Giữ cả phản hồi tích cực và case fail; lỗi hallucination được ưu tiên sửa trước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validation/feedback-log.csv</a:t>
            </a:r>
          </a:p>
          <a:p xmlns:a="http://schemas.openxmlformats.org/drawingml/2006/main">
            <a:r>
              <a:t>- validation/cp5-results-summary.md</a:t>
            </a:r>
          </a:p>
          <a:p xmlns:a="http://schemas.openxmlformats.org/drawingml/2006/main">
            <a:r>
              <a:t>- spec.md §9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Ưu tiên lỗi critical trước khi thêm tính năng; sau đó mới chốt validation và luyện Q&amp;A.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eval/results/cp3-openai-first-run-review.md</a:t>
            </a:r>
          </a:p>
          <a:p xmlns:a="http://schemas.openxmlformats.org/drawingml/2006/main">
            <a:r>
              <a:t>- spec.md §7</a:t>
            </a:r>
          </a:p>
          <a:p xmlns:a="http://schemas.openxmlformats.org/drawingml/2006/main">
            <a:r>
              <a:t>- validation/README.md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c09ce644742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24ed2a5d4441f" /><Relationship Type="http://schemas.openxmlformats.org/officeDocument/2006/relationships/slideLayout" Target="/ppt/slideLayouts/slideLayout1.xml" Id="R0d278188055e4e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278188055e4e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0af7d1cea4859" /><Relationship Type="http://schemas.openxmlformats.org/officeDocument/2006/relationships/notesSlide" Target="/ppt/notesSlides/notesSlide1.xml" Id="Rd7f8c21a0a4749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660faa89f4b96" /><Relationship Type="http://schemas.openxmlformats.org/officeDocument/2006/relationships/notesSlide" Target="/ppt/notesSlides/notesSlide2.xml" Id="R3f4a1ece5afa4e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f591f641f49e5" /><Relationship Type="http://schemas.openxmlformats.org/officeDocument/2006/relationships/notesSlide" Target="/ppt/notesSlides/notesSlide3.xml" Id="R8c0ce392588148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92fcdf7e2466d" /><Relationship Type="http://schemas.openxmlformats.org/officeDocument/2006/relationships/notesSlide" Target="/ppt/notesSlides/notesSlide4.xml" Id="R4d823473f49b42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142f5495f465b" /><Relationship Type="http://schemas.openxmlformats.org/officeDocument/2006/relationships/notesSlide" Target="/ppt/notesSlides/notesSlide5.xml" Id="Ree38fe85206b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43155da834a62" /><Relationship Type="http://schemas.openxmlformats.org/officeDocument/2006/relationships/notesSlide" Target="/ppt/notesSlides/notesSlide6.xml" Id="Re99b352c68a74c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3E44D-BFA7-4079-B40E-2B463EC0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571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F3950-D038-4623-AEBE-1887D629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A5A00"/>
                </a:solidFill>
              </a:defRPr>
            </a:pPr>
            <a:r>
              <a:rPr sz="975" b="1">
                <a:solidFill>
                  <a:srgbClr val="8A5A00"/>
                </a:solidFill>
              </a:rPr>
              <a:t>CP6 • EVIDENCE-FIRST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EECD4-2A78-408A-BAA1-988CFBFD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33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02A43"/>
                </a:solidFill>
              </a:defRPr>
            </a:pPr>
            <a:r>
              <a:rPr sz="3675" b="1">
                <a:solidFill>
                  <a:srgbClr val="102A43"/>
                </a:solidFill>
              </a:rPr>
              <a:t>VLearn VisualRAG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CD6B5-6E6A-48EF-8A17-FF6E005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Hỏi đáp PDF phi cấu trúc bằng văn bản + hình ảnh,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trả lời có nguồn và biết dừng khi thiếu bằng chứng.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C8F58-384A-44D2-987C-70795F8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62839"/>
                </a:solidFill>
              </a:defRPr>
            </a:pPr>
            <a:r>
              <a:rPr sz="1350" b="1">
                <a:solidFill>
                  <a:srgbClr val="D62839"/>
                </a:solidFill>
              </a:rPr>
              <a:t>USER &amp;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16DED-E495-4535-93D2-09F73D49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Người học cần hiểu biểu đồ, bảng, công thức và vùng được khoanh trong PDF — không chỉ phần text OCR trích 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E0ABF-4AB9-474A-9DA8-959DB999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81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42FF2-078E-4EFF-8C94-B186929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539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Job: tìm câu trả lời và kiểm chứng ngay trên trang/crop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203EA-98E9-49D5-BCD3-629A12AF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790575"/>
            <a:ext cx="4448175" cy="4467225"/>
          </a:xfrm>
          <a:prstGeom xmlns:a="http://schemas.openxmlformats.org/drawingml/2006/main" prst="roundRect">
            <a:avLst>
              <a:gd name="adj" fmla="val 25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508E8-1199-4E7C-ACF1-D32742B2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066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Bằng chứng hiện có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2E977-35C6-4143-A2F5-2044F249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571625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02558-E0E4-4002-BA2C-E40DD72B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733550"/>
            <a:ext cx="1419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DF7BC-E984-4590-A1EB-902BB2C5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193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B7F"/>
                </a:solidFill>
              </a:defRPr>
            </a:pPr>
            <a:r>
              <a:rPr sz="1050" b="0">
                <a:solidFill>
                  <a:srgbClr val="5B6B7F"/>
                </a:solidFill>
              </a:rPr>
              <a:t>case trong golden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CF18A-68B4-4364-988A-E0D42D15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005B6-04A2-4AFC-B766-03F87A8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733550"/>
            <a:ext cx="1419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2289C-70DC-4783-B860-FDBEFC86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193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B7F"/>
                </a:solidFill>
              </a:defRPr>
            </a:pPr>
            <a:r>
              <a:rPr sz="1050" b="0">
                <a:solidFill>
                  <a:srgbClr val="5B6B7F"/>
                </a:solidFill>
              </a:rPr>
              <a:t>case từ chatlog thật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DCA04-170E-4B12-B58C-ED2020C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00350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BFD47-D62B-4E49-A598-3B4F57C2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62275"/>
            <a:ext cx="1419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835D"/>
                </a:solidFill>
              </a:defRPr>
            </a:pPr>
            <a:r>
              <a:rPr sz="2550" b="1">
                <a:solidFill>
                  <a:srgbClr val="16835D"/>
                </a:solidFill>
              </a:rPr>
              <a:t>6/6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C800C-545B-4F8D-BD14-158CCE90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480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B7F"/>
                </a:solidFill>
              </a:defRPr>
            </a:pPr>
            <a:r>
              <a:rPr sz="1050" b="0">
                <a:solidFill>
                  <a:srgbClr val="5B6B7F"/>
                </a:solidFill>
              </a:rPr>
              <a:t>backend test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D5BE7-568A-45DE-A115-64D2D68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00350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FF0D5-DD1E-4482-B4BF-79AF644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962275"/>
            <a:ext cx="1419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2839"/>
                </a:solidFill>
              </a:defRPr>
            </a:pPr>
            <a:r>
              <a:rPr sz="2550" b="1">
                <a:solidFill>
                  <a:srgbClr val="D62839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89290-2215-4DA6-ADD9-A6BA7810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480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B7F"/>
                </a:solidFill>
              </a:defRPr>
            </a:pPr>
            <a:r>
              <a:rPr sz="1050" b="0">
                <a:solidFill>
                  <a:srgbClr val="5B6B7F"/>
                </a:solidFill>
              </a:rPr>
              <a:t>frontend build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9092A-948C-491D-826F-AAE2CD6A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105275"/>
            <a:ext cx="3667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F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D3CA2-1574-424A-AB3B-49652575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LÁT CẮT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DF9A4-43FA-4D54-872E-A00A3B9E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86275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PDF → Markdown + crop → answer có citation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919DB-9A8D-4976-A19E-4DC5BB2F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VLearn VisualRAG  •  CP6  •  30.07.2026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F90CB-A016-4D01-82D5-A15F0425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7131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4AD63-C551-4DE0-8C31-B1F72646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01 • VÌ SAO CHỌN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C7389-645D-41A0-8BC8-C637FA96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Ba pain được cân nhắc, một lát cắt được chọn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5A4A7-86D0-487E-BCEB-AB09F566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</a:rPr>
              <a:t>Chọn theo evidence × cost-of-error × khả năng demo trong 5 phút.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44859-FEAB-4649-9D97-6F4CFC0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39"/>
          </a:solidFill>
          <a:ln xmlns:a="http://schemas.openxmlformats.org/drawingml/2006/main" w="9525">
            <a:solidFill>
              <a:srgbClr val="D628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03878-28D2-400B-A577-C824A45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C451A-8D41-4A1E-8BBE-C405A2EC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952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7DB"/>
          </a:solidFill>
          <a:ln xmlns:a="http://schemas.openxmlformats.org/drawingml/2006/main" w="9525">
            <a:solidFill>
              <a:srgbClr val="FFD7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CADCB-DA7B-4060-86D6-BE84007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CHỌN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F4C67-647D-491E-8575-96F981E3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Visual Q&amp;A có căn cứ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0FB01-51A5-4371-906A-DE48F39E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71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8 query explicit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6421B-1382-4599-B095-E13B206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5267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62839"/>
                </a:solidFill>
              </a:defRPr>
            </a:pPr>
            <a:r>
              <a:rPr sz="1350" b="1">
                <a:solidFill>
                  <a:srgbClr val="D62839"/>
                </a:solidFill>
              </a:rPr>
              <a:t>≥4/8 chưa được xử lý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B65B3-3883-4121-8BFB-EABFDEDA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F0408-B06B-49C8-9AF7-D6EEA6D9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952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B9131-523D-4168-9D64-D99167AD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BACKLOG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FF88D-B2ED-49C3-8D41-9B9A7FD5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71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Citation cho mọi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2E743-850C-4680-B538-82C12D44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33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582/1.261 thiếu cite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BBA81-EE2F-4A18-ABA8-E72A106E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147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Phạm vi quá rộng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D663C-2AAF-4B23-A85D-CFE2C2C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E9457-DE19-4586-8010-1470A23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952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E0F8C-5624-430D-90F0-5D0777C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LOẠI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C7478-1B90-4F7A-8A71-86589C0E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33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Giảm latency outlier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B0CC4-3205-4C50-A970-7CD190B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p90 3,686 giây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368FC-7387-4A46-9475-EEB26D7E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7677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Ít tác động độ đúng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E8132-19D1-44C0-984C-7333DB05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715000"/>
            <a:ext cx="5162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2629E-F833-4D0E-9FFE-0493622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7531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QUYẾT ĐỊNH: GIỮ ĐÚNG CROP ẢNH + NGUỒN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5885D-81C7-4171-A9F6-83D3DAC3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VLearn VisualRAG  •  CP6  •  30.07.2026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4243F-32A2-4025-A462-A180CFE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2361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25D865-8614-4477-B866-78CAD3A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02 • GIẢI PHÁP &amp; DEMO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8A885-DB66-4EC1-BEF0-54ADD5A4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Giữ cấu trúc PDF, định tuyến bằng chứng trước khi trả lời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8F2E1-1A29-410D-9EE8-239C5C6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</a:rPr>
              <a:t>AI quyết định câu hỏi cần text, hình ảnh, hỏi lại, từ chối hay dừng — dùng GPT-4o mini.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CC2D9-20B6-4252-A940-B4D2061C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39"/>
          </a:solidFill>
          <a:ln xmlns:a="http://schemas.openxmlformats.org/drawingml/2006/main" w="9525">
            <a:solidFill>
              <a:srgbClr val="D628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63060-DA93-4914-9513-1B9352AF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402E6-2B5D-428F-BE74-D9B4951E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FF74B-CEDB-475F-8018-197BC72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76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60BB7-652E-43A4-85B6-FF11CD10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81168-B829-47DE-B504-B2559B5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7375B-0BD4-43E5-8160-CD378B7F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Tài liệu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phi cấu trúc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0BE4B-6126-470D-88EE-25B974E1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38450"/>
            <a:ext cx="3048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D8929-62A0-4500-A73B-2E984F6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F44D8-4321-49EE-9D61-3E55547A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39"/>
          </a:solidFill>
          <a:ln xmlns:a="http://schemas.openxmlformats.org/drawingml/2006/main" w="9525">
            <a:solidFill>
              <a:srgbClr val="D628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6B913-D7DE-4623-8608-D64905D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476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38EEB-63F6-4C2E-9FD1-2F6BB96D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31A2D-D613-4861-9E30-D00D2F2F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DeepSeek-OCR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6EF7D-3DDE-49E1-B0BA-6593B05F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Markdown +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visual regions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E5B6D-0940-41C0-BB72-DA299D4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38450"/>
            <a:ext cx="3048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6ECEC-7A0F-468D-9B1E-E3EB319C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CC31-48E6-4609-9037-EFFF087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8AD8B-D0BF-4FBB-B455-3162FAD6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476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D3090-AA1A-4A51-93CE-DD380FC1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662F8-9EC1-44D5-92D1-79129975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Chunking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31403-B8F4-41FF-88A6-3876600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Heading path +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page + bbox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8BFB23-45EB-4B7F-BF2D-1B64346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38450"/>
            <a:ext cx="3048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8CC0D-EEA2-40C0-9C35-6C3720F9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A3502-3C47-438F-97A2-8578523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C6C16-44B9-482E-AC66-64156D85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476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E44DE-4181-4255-9731-8FBA3704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9C14D-B7E8-4300-8D1E-06EB6B31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Retrieval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78FED-B8F1-4B68-9D08-86524C1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Text / visual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routing + rerank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A1646B-5EF7-4532-BB5E-7B4F66AE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38450"/>
            <a:ext cx="3048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4B8A59-98A5-4EC5-9F8E-B21E7468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52625"/>
            <a:ext cx="1790700" cy="20955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141FC4-05D8-4057-9F0B-ED7256AB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52625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74BE3-C968-4224-9810-6A04C213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476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137A30-A417-401A-B5AD-722C6EB5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D533D3-10C4-4C63-B553-55820594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GPT-4o mini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D5EAF5-F704-4A54-986D-D4264BD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Answer / clarify /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B7F"/>
                </a:solidFill>
              </a:defRPr>
            </a:pPr>
            <a:r>
              <a:rPr sz="1200" b="0">
                <a:solidFill>
                  <a:srgbClr val="5B6B7F"/>
                </a:solidFill>
              </a:rPr>
              <a:t>abstain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2066E9-BEDE-4D41-B877-E7964C3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557486-324D-4862-9850-074E12E0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62839"/>
                </a:solidFill>
              </a:defRPr>
            </a:pPr>
            <a:r>
              <a:rPr sz="1350" b="1">
                <a:solidFill>
                  <a:srgbClr val="D62839"/>
                </a:solidFill>
              </a:rPr>
              <a:t>DEMO LIVE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51901A-E626-4542-A9C6-8330964F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62475"/>
            <a:ext cx="876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E7F7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8E4846-2549-44F0-98B1-201AA988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005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5D"/>
                </a:solidFill>
              </a:defRPr>
            </a:pPr>
            <a:r>
              <a:rPr sz="975" b="1">
                <a:solidFill>
                  <a:srgbClr val="16835D"/>
                </a:solidFill>
              </a:rPr>
              <a:t>NORMAL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FAE10D-3D12-4EF9-9033-D0E49EC3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815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Hỏi nội dung có trong text → answer + trang nguồn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12606A-C056-40AE-B601-432DBE99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57775"/>
            <a:ext cx="876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E4112E-93F5-452B-A999-03996E70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958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A5A00"/>
                </a:solidFill>
              </a:defRPr>
            </a:pPr>
            <a:r>
              <a:rPr sz="975" b="1">
                <a:solidFill>
                  <a:srgbClr val="8A5A00"/>
                </a:solidFill>
              </a:rPr>
              <a:t>HARD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28FBD6-3D07-4189-9248-BBB2C552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768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Hỏi biểu đồ/crop mờ → dùng ảnh hoặc dừng và yêu cầu ảnh rõ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D2B96-D298-467E-B68C-FA64517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14975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B7F"/>
                </a:solidFill>
              </a:defRPr>
            </a:pPr>
            <a:r>
              <a:rPr sz="975" b="0">
                <a:solidFill>
                  <a:srgbClr val="5B6B7F"/>
                </a:solidFill>
              </a:rPr>
              <a:t>document_id • heading_path • page • image_path • bbox • trace_id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610004-D52D-4C31-A89D-426CAF49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VLearn VisualRAG  •  CP6  •  30.07.2026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650CD1-5CD7-4F16-BD85-8CCF1375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7606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D1C15-688B-4F75-8093-C10767EE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03 • KẾT QUẢ SO VỚI CHUẨN ĐÃ KHÓA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5C44B-70EB-4BC1-877B-1AD72E06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20/24 câu đạt — route đúng chưa đồng nghĩa answer đã grounded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26A3E-7F1D-4FB6-B297-81EE5CC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</a:rPr>
              <a:t>Lần chạy đầu bằng OpenAI Responses API • GPT-4o mini • không dùng mock.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EAC79-48B4-447A-9880-4BA3D84C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39"/>
          </a:solidFill>
          <a:ln xmlns:a="http://schemas.openxmlformats.org/drawingml/2006/main" w="9525">
            <a:solidFill>
              <a:srgbClr val="D628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AF530-C7C4-47C0-95A9-499B03FA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476750" cy="3571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F7A3E-9C4A-489A-B20C-288CCF1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83,3%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E0C50-566E-4F29-9303-A090E27E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289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4D8CB"/>
                </a:solidFill>
              </a:defRPr>
            </a:pPr>
            <a:r>
              <a:rPr sz="1725" b="1">
                <a:solidFill>
                  <a:srgbClr val="64D8CB"/>
                </a:solidFill>
              </a:rPr>
              <a:t>20 / 24 câu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ECBFC-6242-46D1-AC78-AB7779BE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087"/>
          </a:solidFill>
          <a:ln xmlns:a="http://schemas.openxmlformats.org/drawingml/2006/main" w="9525">
            <a:solidFill>
              <a:srgbClr val="5B70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47145-CE16-4257-AB07-1C9A62D7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342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✓ Route đúng: 24/24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✓ API error: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✓ Chuẩn tổng ≥80%: ĐẠT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✕ Không bịa ngoài source: CHƯA ĐẠT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3449-1555-48DA-9331-83C42DB3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6191250" cy="3571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249DD-B58B-4224-8DE8-A459E03C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81225"/>
            <a:ext cx="1581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7DB"/>
          </a:solidFill>
          <a:ln xmlns:a="http://schemas.openxmlformats.org/drawingml/2006/main" w="9525">
            <a:solidFill>
              <a:srgbClr val="FFD7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C9A85-BF49-4516-8828-C856277D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19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FAIL ĐÁNG CHÚ 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235FB-EDF7-4595-B517-CCE27200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86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GS002 • GS006 • GS007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1FC11-E09F-410E-80F8-D4F4874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Model thêm diễn giải bên ngoài bằng chứng nguồn. Route đúng nhưng answer vẫn vi phạm ràng buộc grounded.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8D4D9-4A3B-4797-B724-1C41E660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05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GS022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4E0EF-CACB-4D11-8FAE-ADED4A0E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577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Đã dừng an toàn, nhưng chưa chỉ rõ crop bị mờ và hành động tiếp theo.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3561D-9818-4A75-9FE3-09A70874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81675"/>
            <a:ext cx="4095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74D2C-51D0-45DE-8358-213CC4A9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19775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A5A00"/>
                </a:solidFill>
              </a:defRPr>
            </a:pPr>
            <a:r>
              <a:rPr sz="975" b="1">
                <a:solidFill>
                  <a:srgbClr val="8A5A00"/>
                </a:solidFill>
              </a:rPr>
              <a:t>BÀI HỌC: ĐÁNH GIÁ ROUTE VÀ ANSWER RIÊNG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FBCCB-2596-457E-8283-5CEBA89D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VLearn VisualRAG  •  CP6  •  30.07.2026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ED49D-E28C-4AC9-91AF-3597E048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5602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76018-1A4F-41DD-9C50-5C1D3EB1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04 • USER THẬT NÓI GÌ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17096-E7F7-4B00-840F-C374AB14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Đã chốt: 5/5 phiên validation có tên và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AB4DB-97B4-4AF5-942A-A5D0F7CC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</a:rPr>
              <a:t>3 willing users CP1 + 2 tester bổ sung • 15 lượt hỏi được ghi nhận.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A400F-D875-48CB-8B28-AC5D28B0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39"/>
          </a:solidFill>
          <a:ln xmlns:a="http://schemas.openxmlformats.org/drawingml/2006/main" w="9525">
            <a:solidFill>
              <a:srgbClr val="D628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132CC-A529-47F7-A5C2-A41F2372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724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C421B-4AF3-4EBE-8542-357C439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A5A00"/>
                </a:solidFill>
              </a:defRPr>
            </a:pPr>
            <a:r>
              <a:rPr sz="975" b="1">
                <a:solidFill>
                  <a:srgbClr val="8A5A00"/>
                </a:solidFill>
              </a:rPr>
              <a:t>VALIDATION — 5/5 TESTER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A66E3-CDE7-40D5-B365-57BD7CD5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619125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4ECD0-BDD3-4B40-BB5E-79FD84E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1437A-0595-460D-8A26-52F46A01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1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EB718-47D6-47C2-BE73-FBBBC95B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Vũ Đức Duy — thiếu bbox highlight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EE8E6-DACB-41CA-81CE-545A811C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2415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B7F"/>
                </a:solidFill>
              </a:defRPr>
            </a:pPr>
            <a:r>
              <a:rPr sz="1050" b="0">
                <a:solidFill>
                  <a:srgbClr val="5B6B7F"/>
                </a:solidFill>
              </a:rPr>
              <a:t>“mình vẫn phải tự tìm lại các đoạn như GS002, GS006, GS007.”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18D72-A64C-49E4-8849-9B404670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619125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EBB85-9C05-42BF-AD80-81AAEE3A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08858-516A-4295-AAEF-C077FAD3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3EAFA-D383-43AF-B0E4-C23E2EC5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194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Nguyễn Đình Bình — crop chưa tự hiện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8D409-722F-44B0-9A5C-EC68ADD2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242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B7F"/>
                </a:solidFill>
              </a:defRPr>
            </a:pPr>
            <a:r>
              <a:rPr sz="1050" b="0">
                <a:solidFill>
                  <a:srgbClr val="5B6B7F"/>
                </a:solidFill>
              </a:rPr>
              <a:t>“mong hình crop được hiển thị ngay thay vì phải yêu cầu xem nguồn”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24CA4-CAC0-48ED-A832-D5C1022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619125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CD8C6-C468-49DB-8BFC-4A85991E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AFE66-F8B0-4602-BB19-47A30AAA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8471B-864F-4BE2-BCF3-7BC4741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Cao Hữu Phúc — niềm tin 60–70%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12747-661F-40DF-8F79-680C5079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B7F"/>
                </a:solidFill>
              </a:defRPr>
            </a:pPr>
            <a:r>
              <a:rPr sz="1050" b="0">
                <a:solidFill>
                  <a:srgbClr val="5B6B7F"/>
                </a:solidFill>
              </a:rPr>
              <a:t>“hệ thống vẫn tự suy diễn thêm thông tin ngoài tài liệu”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EEE42-AD87-40B4-A947-E54B4FA6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57425"/>
            <a:ext cx="4457700" cy="288607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5E5C9-6098-45C9-8273-8A70048C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24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Quyết định sau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C42B2-62E3-42DC-8246-CA7AC95A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28950"/>
            <a:ext cx="371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9E2EC"/>
                </a:solidFill>
              </a:defRPr>
            </a:pPr>
            <a:r>
              <a:rPr sz="1350" b="0">
                <a:solidFill>
                  <a:srgbClr val="D9E2EC"/>
                </a:solidFill>
              </a:rPr>
              <a:t>• Siết source-only + post-check citation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9E2EC"/>
                </a:solidFill>
              </a:defRPr>
            </a:pPr>
            <a:r>
              <a:rPr sz="1350" b="0">
                <a:solidFill>
                  <a:srgbClr val="D9E2EC"/>
                </a:solidFill>
              </a:rPr>
              <a:t>• Auto visual route cho sơ đồ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9E2EC"/>
                </a:solidFill>
              </a:defRPr>
            </a:pPr>
            <a:r>
              <a:rPr sz="1350" b="0">
                <a:solidFill>
                  <a:srgbClr val="D9E2EC"/>
                </a:solidFill>
              </a:rPr>
              <a:t>• Thêm next-step khi abstain/crop mờ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9E2EC"/>
                </a:solidFill>
              </a:defRPr>
            </a:pPr>
            <a:r>
              <a:rPr sz="1350" b="0">
                <a:solidFill>
                  <a:srgbClr val="D9E2EC"/>
                </a:solidFill>
              </a:rPr>
              <a:t>• Làm source card rõ hơn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9E2EC"/>
                </a:solidFill>
              </a:defRPr>
            </a:pPr>
            <a:r>
              <a:rPr sz="1350" b="0">
                <a:solidFill>
                  <a:srgbClr val="D9E2EC"/>
                </a:solidFill>
              </a:rPr>
              <a:t>• Backlog: bbox highlight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90471-2909-4CFD-BDD3-3F1C0F0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53050"/>
            <a:ext cx="2000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7DB"/>
          </a:solidFill>
          <a:ln xmlns:a="http://schemas.openxmlformats.org/drawingml/2006/main" w="9525">
            <a:solidFill>
              <a:srgbClr val="FFD7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A47199-0921-4F77-9C7E-DF7DE58B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91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5 TESTER • 3 WILLING USERS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7B6B88-F5AA-4DC8-BC22-3CAADB8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VLearn VisualRAG  •  CP6  •  30.07.2026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741E3D-3F3D-49D3-924C-2EB49693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3551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B861C-FE23-4E16-BD35-8B33BDD8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05 • NẾU CÓ THÊM MỘT TUẦN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E9C6D-2B66-4CD6-BDD8-EC36011B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Ưu tiên sửa lỗi gây mất niềm tin trước khi mở rộng tính năng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940DD-6107-4996-BEE7-D5B777F4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</a:rPr>
              <a:t>Khoảng cách lớn nhất: route đúng 24/24 nhưng grounded answer chỉ đạt 20/24.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9F2BE-B418-4D1C-AA47-611612A5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39"/>
          </a:solidFill>
          <a:ln xmlns:a="http://schemas.openxmlformats.org/drawingml/2006/main" w="9525">
            <a:solidFill>
              <a:srgbClr val="D628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99C8B-A971-4244-9148-E3CC5310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436F6-DCF3-40BD-AB47-163D3F13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9F6A9-C9D3-4012-9543-C86B6C9B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D62839"/>
                </a:solidFill>
              </a:defRPr>
            </a:pPr>
            <a:r>
              <a:rPr sz="975" b="1">
                <a:solidFill>
                  <a:srgbClr val="D6283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32F19-571A-4517-BE50-D3954B47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71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Siết source-only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E5B87-B3AB-4969-A1B3-AA5E8B67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193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Chặn diễn giải không có bằng chứng; thêm post-check cho citation.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C0422-68F0-41A8-A71C-0BD37D83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4EB37-2EA1-4DB0-A087-65A31F6D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28FAF-6A74-4169-844E-76B169B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5268C-15FD-403A-ADE4-703F7F37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33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Xử lý crop mờ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7A9B2-AFFF-43C1-AC08-806BA99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813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Nêu rõ mức độ không chắc chắn và yêu cầu trang/crop rõ hơn.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F1183-EB30-43AA-A037-511C0A0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D4DA5-1F30-46C8-8478-DB1F2DC3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5ACE3-99A4-4271-9280-9E334DF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80F40-5B5F-4845-B8D8-0196504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Validation với ≥5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FC127-F0E2-41C3-AE2F-8C111CA2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434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Dùng task cố định, quote nguyên văn, ghi change/keep có lý 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20505-3E31-41DD-971F-C60B724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42C05-6FEB-44BA-A29D-3523ABEB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Bài học lớn nhất: “đúng luồng” và “đúng bằng chứng” là hai lớp đánh giá khác nhau.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B6B52-3C6E-4EB9-8E79-65692FE4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VLearn VisualRAG  •  CP6  •  30.07.2026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70C81-C7DD-4CD0-95CD-6ADF551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0630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2026-07-30T16:28:18.1510000Z</dcterms:created>
  <dcterms:modified xsi:type="dcterms:W3CDTF">2026-07-30T16:28:18.1510000Z</dcterms:modified>
</coreProperties>
</file>